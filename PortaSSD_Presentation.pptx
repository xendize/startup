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54864" cy="5097780"/>
          </a:xfrm>
          <a:prstGeom prst="rect">
            <a:avLst/>
          </a:prstGeom>
          <a:solidFill>
            <a:srgbClr val="0080CC"/>
          </a:solidFill>
          <a:ln w="12700">
            <a:solidFill>
              <a:srgbClr val="0080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D45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0" y="91440"/>
            <a:ext cx="3017520" cy="4937760"/>
          </a:xfrm>
          <a:prstGeom prst="rect">
            <a:avLst/>
          </a:prstGeom>
          <a:solidFill>
            <a:srgbClr val="142338"/>
          </a:solidFill>
          <a:ln w="12700">
            <a:solidFill>
              <a:srgbClr val="1423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731520"/>
            <a:ext cx="2286000" cy="201168"/>
          </a:xfrm>
          <a:prstGeom prst="rect">
            <a:avLst/>
          </a:prstGeom>
          <a:solidFill>
            <a:srgbClr val="0080CC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1234440"/>
            <a:ext cx="2286000" cy="201168"/>
          </a:xfrm>
          <a:prstGeom prst="rect">
            <a:avLst/>
          </a:prstGeom>
          <a:solidFill>
            <a:srgbClr val="0F1B2D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737360"/>
            <a:ext cx="2286000" cy="201168"/>
          </a:xfrm>
          <a:prstGeom prst="rect">
            <a:avLst/>
          </a:prstGeom>
          <a:solidFill>
            <a:srgbClr val="0080CC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2240280"/>
            <a:ext cx="2286000" cy="201168"/>
          </a:xfrm>
          <a:prstGeom prst="rect">
            <a:avLst/>
          </a:prstGeom>
          <a:solidFill>
            <a:srgbClr val="0F1B2D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743200"/>
            <a:ext cx="2286000" cy="201168"/>
          </a:xfrm>
          <a:prstGeom prst="rect">
            <a:avLst/>
          </a:prstGeom>
          <a:solidFill>
            <a:srgbClr val="0080CC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3246120"/>
            <a:ext cx="2286000" cy="201168"/>
          </a:xfrm>
          <a:prstGeom prst="rect">
            <a:avLst/>
          </a:prstGeom>
          <a:solidFill>
            <a:srgbClr val="0F1B2D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640080"/>
            <a:ext cx="2468880" cy="3291840"/>
          </a:xfrm>
          <a:prstGeom prst="rect">
            <a:avLst/>
          </a:prstGeom>
          <a:solidFill>
            <a:srgbClr val="000000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28600"/>
            <a:ext cx="1828800" cy="2926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</a:rPr>
              <a:t>СТАРТАП-ПРОЕКТ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" y="68580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PortaSSD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274320" y="17830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Портативное SSD-хранилище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беспроводной передачей данных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74320" y="2697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Курсовая работа | Мини-дек: Problem → Customer → Market → Why Now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291840"/>
            <a:ext cx="1600200" cy="777240"/>
          </a:xfrm>
          <a:prstGeom prst="rect">
            <a:avLst/>
          </a:prstGeom>
          <a:solidFill>
            <a:srgbClr val="1A2D45"/>
          </a:solidFill>
          <a:ln w="6350">
            <a:solidFill>
              <a:srgbClr val="0080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31012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FF"/>
                </a:solidFill>
              </a:rPr>
              <a:t>$2.1B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7432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6C1"/>
                </a:solidFill>
              </a:rPr>
              <a:t>Рынок SSD 2024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103120" y="3291840"/>
            <a:ext cx="1600200" cy="777240"/>
          </a:xfrm>
          <a:prstGeom prst="rect">
            <a:avLst/>
          </a:prstGeom>
          <a:solidFill>
            <a:srgbClr val="1A2D45"/>
          </a:solidFill>
          <a:ln w="6350">
            <a:solidFill>
              <a:srgbClr val="0080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331012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FF"/>
                </a:solidFill>
              </a:rPr>
              <a:t>68%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10312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6C1"/>
                </a:solidFill>
              </a:rPr>
              <a:t>Рост Wi-Fi хранилищ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931920" y="3291840"/>
            <a:ext cx="1600200" cy="777240"/>
          </a:xfrm>
          <a:prstGeom prst="rect">
            <a:avLst/>
          </a:prstGeom>
          <a:solidFill>
            <a:srgbClr val="1A2D45"/>
          </a:solidFill>
          <a:ln w="6350">
            <a:solidFill>
              <a:srgbClr val="0080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331012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FF"/>
                </a:solidFill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93192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6C1"/>
                </a:solidFill>
              </a:rPr>
              <a:t>Ключевых сегмента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A6C1"/>
                </a:solidFill>
              </a:rPr>
              <a:t>2024 – 2025  |  Инновационный стартап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9144000" cy="822960"/>
          </a:xfrm>
          <a:prstGeom prst="rect">
            <a:avLst/>
          </a:prstGeom>
          <a:solidFill>
            <a:srgbClr val="0A1220"/>
          </a:solidFill>
          <a:ln w="12700">
            <a:solidFill>
              <a:srgbClr val="0A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"/>
            <a:ext cx="411480" cy="8229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57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457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ПРОБЛЕМА: Данные в ловушке — без кабеля нет доступа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" y="1051560"/>
            <a:ext cx="8778240" cy="1005840"/>
          </a:xfrm>
          <a:prstGeom prst="rect">
            <a:avLst/>
          </a:prstGeom>
          <a:solidFill>
            <a:srgbClr val="1A2D4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051560"/>
            <a:ext cx="50292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0515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0972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Нет беспроводного доступа к хранилищу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1353312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6C1"/>
                </a:solidFill>
              </a:rPr>
              <a:t>Контекст: съёмки, командировки, работа в поле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563624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Боль: невозможно передать файлы без ноутбука/кабеля USB-C   •   Последствия: потеря 30–90 мин рабочего времени на одно устройство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2240280"/>
            <a:ext cx="8778240" cy="1005840"/>
          </a:xfrm>
          <a:prstGeom prst="rect">
            <a:avLst/>
          </a:prstGeom>
          <a:solidFill>
            <a:srgbClr val="1A2D4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2240280"/>
            <a:ext cx="50292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2240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22860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Облако — не замена локальному хранилищу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2542032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6C1"/>
                </a:solidFill>
              </a:rPr>
              <a:t>Контекст: зоны без интернета, большие файлы (RAW, 4K-видео)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752344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Боль: загрузка 100 ГБ в облако занимает часы и стоит денег   •   Последствия: до $120/год только на хранение, плюс зависимость от сети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82880" y="3429000"/>
            <a:ext cx="8778240" cy="1005840"/>
          </a:xfrm>
          <a:prstGeom prst="rect">
            <a:avLst/>
          </a:prstGeom>
          <a:solidFill>
            <a:srgbClr val="1A2D4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3429000"/>
            <a:ext cx="50292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34290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34747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Существующие решения неудобны или дороги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3730752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6C1"/>
                </a:solidFill>
              </a:rPr>
              <a:t>Контекст: выбор между флешкой (медленно) и NAS (дорого/стационарно)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3941064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Боль: нет компактного, быстрого и беспроводного варианта   •   Последствия: пользователь идёт на компромисс, теряя либо скорость, либо мобильность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 w="12700">
            <a:solidFill>
              <a:srgbClr val="0A12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4709160"/>
            <a:ext cx="8686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A6C1"/>
                </a:solidFill>
              </a:rPr>
              <a:t>📊  Сигналы/основания: IDC 2023 — 43% мобильных работников теряют &gt;30 мин/день на передачу файлов; Statista 2024 — рынок портативных SSD растёт на 14% ежегодно; Reddit/XDA — топ-жалоба: «нет Wi-Fi-доступа к внешнему диску»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9144000" cy="822960"/>
          </a:xfrm>
          <a:prstGeom prst="rect">
            <a:avLst/>
          </a:prstGeom>
          <a:solidFill>
            <a:srgbClr val="0A1220"/>
          </a:solidFill>
          <a:ln w="12700">
            <a:solidFill>
              <a:srgbClr val="0A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"/>
            <a:ext cx="411480" cy="82296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57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457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ЦЕЛЕВОЙ СЕГМЕНТ: Мобильные профессионалы и цифровые энтузиасты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029200" cy="2926080"/>
          </a:xfrm>
          <a:prstGeom prst="rect">
            <a:avLst/>
          </a:prstGeom>
          <a:solidFill>
            <a:srgbClr val="1A2D45"/>
          </a:solidFill>
          <a:ln w="9525">
            <a:solidFill>
              <a:srgbClr val="00E5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789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E5B0"/>
                </a:solidFill>
              </a:rPr>
              <a:t>Параметры сегмента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435608"/>
            <a:ext cx="1417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C2FF"/>
                </a:solidFill>
              </a:rPr>
              <a:t>👤  Роль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83080" y="1435608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Фотографы, видеографы, IT-специалисты, студенты техн. направлений, digital nomads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" y="1856232"/>
            <a:ext cx="1417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C2FF"/>
                </a:solidFill>
              </a:rPr>
              <a:t>📍  Сценарий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783080" y="1856232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Съёмки на выезде, работа в полях, путешествия, коворкинги без кабелей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2276856"/>
            <a:ext cx="1417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C2FF"/>
                </a:solidFill>
              </a:rPr>
              <a:t>💻  Устройства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783080" y="2276856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iPhone / Android + MacBook / Windows ноутбук (2+ устройства одновременно)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" y="2697480"/>
            <a:ext cx="1417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C2FF"/>
                </a:solidFill>
              </a:rPr>
              <a:t>💰  Бюджет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783080" y="2697480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Готовы платить $80–200 за «правильное» решение; сравнивают с Samsung T7, SanDisk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0040" y="3118104"/>
            <a:ext cx="1417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C2FF"/>
                </a:solidFill>
              </a:rPr>
              <a:t>🚫  Барьер 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783080" y="3118104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Скептицизм: «Wi-Fi будет медленнее USB»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0040" y="3538728"/>
            <a:ext cx="1417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C2FF"/>
                </a:solidFill>
              </a:rPr>
              <a:t>🚫  Барьер 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83080" y="3538728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Страх несовместимости с iOS/Android/Windows одновременно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94960" y="1005840"/>
            <a:ext cx="3566160" cy="1417320"/>
          </a:xfrm>
          <a:prstGeom prst="rect">
            <a:avLst/>
          </a:prstGeom>
          <a:solidFill>
            <a:srgbClr val="1A2D45"/>
          </a:solidFill>
          <a:ln w="9525">
            <a:solidFill>
              <a:srgbClr val="00C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10789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Persona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32120" y="137160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Артём, 28 лет, фрилансер-видеограф.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Снимает свадьбы и корпоративы. Работает с Sony A7 IV + MacBook Pro.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Каждый вечер тратит 40–60 мин на перенос 4K-материала через кабель.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Хочет передавать файлы клиенту прямо с площадки.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94960" y="2514600"/>
            <a:ext cx="3566160" cy="1417320"/>
          </a:xfrm>
          <a:prstGeom prst="rect">
            <a:avLst/>
          </a:prstGeom>
          <a:solidFill>
            <a:srgbClr val="142338"/>
          </a:solidFill>
          <a:ln w="9525">
            <a:solidFill>
              <a:srgbClr val="00E5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587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E5B0"/>
                </a:solidFill>
              </a:rPr>
              <a:t>JTBD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32120" y="2862072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E8F4FD"/>
                </a:solidFill>
              </a:rPr>
              <a:t>«Когда я нахожусь на съёмке вдали от ноутбука, я хочу мгновенно передать тяжёлые файлы с камеры на телефон клиента, чтобы он мог одобрить материал прямо на месте — без кабелей и интернета»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0" y="4023360"/>
            <a:ext cx="9144000" cy="777240"/>
          </a:xfrm>
          <a:prstGeom prst="rect">
            <a:avLst/>
          </a:prstGeom>
          <a:solidFill>
            <a:srgbClr val="0A1220"/>
          </a:solidFill>
          <a:ln w="12700">
            <a:solidFill>
              <a:srgbClr val="0A12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4096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E5B0"/>
                </a:solidFill>
              </a:rPr>
              <a:t>Ключевые возражения: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" y="43434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A6C1"/>
                </a:solidFill>
              </a:rPr>
              <a:t>1. «Беспроводная передача слишком медленная для RAW/4K»  →  Решение: Wi-Fi 6 (до 1.2 Гбит/с) + USB 3.2 резерв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28600" y="455371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A6C1"/>
                </a:solidFill>
              </a:rPr>
              <a:t>2. «Дорого»  →  Позиционирование: стоимость ≈ 2 часа работы фрилансера, которые он сэкономит за неделю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9144000" cy="822960"/>
          </a:xfrm>
          <a:prstGeom prst="rect">
            <a:avLst/>
          </a:prstGeom>
          <a:solidFill>
            <a:srgbClr val="0A1220"/>
          </a:solidFill>
          <a:ln w="12700">
            <a:solidFill>
              <a:srgbClr val="0A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"/>
            <a:ext cx="411480" cy="8229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57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457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РЫНОК: TAM / SAM / SOM — расчёт потенциала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" y="987552"/>
            <a:ext cx="2103120" cy="274320"/>
          </a:xfrm>
          <a:prstGeom prst="rect">
            <a:avLst/>
          </a:prstGeom>
          <a:solidFill>
            <a:srgbClr val="0080CC"/>
          </a:solidFill>
          <a:ln w="12700">
            <a:solidFill>
              <a:srgbClr val="008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987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Метод: Top-Down + Bottom-Up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1371600"/>
            <a:ext cx="8412480" cy="7132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137160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TAM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37160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B2D"/>
                </a:solidFill>
              </a:rPr>
              <a:t>$2.1 млрд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26080" y="1371600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B2D"/>
                </a:solidFill>
              </a:rPr>
              <a:t>Глобальный рынок портативных SSD (2024)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88720" y="2267712"/>
            <a:ext cx="6400800" cy="713232"/>
          </a:xfrm>
          <a:prstGeom prst="rect">
            <a:avLst/>
          </a:prstGeom>
          <a:solidFill>
            <a:srgbClr val="0080CC"/>
          </a:solidFill>
          <a:ln w="12700">
            <a:solidFill>
              <a:srgbClr val="0080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2267712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SAM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65960" y="2267712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B2D"/>
                </a:solidFill>
              </a:rPr>
              <a:t>$420 млн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31920" y="226771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B2D"/>
                </a:solidFill>
              </a:rPr>
              <a:t>Сегмент с Wi-Fi / беспроводной передачей данных (~20% TAM)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03120" y="3163824"/>
            <a:ext cx="4572000" cy="713232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3163824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SOM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80360" y="316382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B2D"/>
                </a:solidFill>
              </a:rPr>
              <a:t>$12.6 млн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46320" y="3163824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B2D"/>
                </a:solidFill>
              </a:rPr>
              <a:t>Реально достижимая доля: 3% SAM за 3 года (Россия + СНГ + Европа)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" y="4160520"/>
            <a:ext cx="8778240" cy="594360"/>
          </a:xfrm>
          <a:prstGeom prst="rect">
            <a:avLst/>
          </a:prstGeom>
          <a:solidFill>
            <a:srgbClr val="1A2D45"/>
          </a:solidFill>
          <a:ln w="6350">
            <a:solidFill>
              <a:srgbClr val="0080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206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2FF"/>
                </a:solidFill>
              </a:rPr>
              <a:t>Ключевые допущения: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442569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2FF"/>
                </a:solidFill>
              </a:rPr>
              <a:t>TAM: </a:t>
            </a:r>
            <a:pPr indent="0" marL="0">
              <a:buNone/>
            </a:pPr>
            <a:r>
              <a:rPr lang="en-US" sz="800" dirty="0">
                <a:solidFill>
                  <a:srgbClr val="8BA6C1"/>
                </a:solidFill>
              </a:rPr>
              <a:t>Grand View Research 2024, рынок Portable SSD. Рост CAGR 14%.  </a:t>
            </a:r>
            <a:pPr indent="0" marL="0">
              <a:buNone/>
            </a:pPr>
            <a:r>
              <a:rPr lang="en-US" sz="800" b="1" dirty="0">
                <a:solidFill>
                  <a:srgbClr val="00C2FF"/>
                </a:solidFill>
              </a:rPr>
              <a:t>SAM: </a:t>
            </a:r>
            <a:pPr indent="0" marL="0">
              <a:buNone/>
            </a:pPr>
            <a:r>
              <a:rPr lang="en-US" sz="800" dirty="0">
                <a:solidFill>
                  <a:srgbClr val="8BA6C1"/>
                </a:solidFill>
              </a:rPr>
              <a:t>20% устройств уже имеют Wi-Fi модуль (IDC).  </a:t>
            </a:r>
            <a:pPr indent="0" marL="0">
              <a:buNone/>
            </a:pPr>
            <a:r>
              <a:rPr lang="en-US" sz="800" b="1" dirty="0">
                <a:solidFill>
                  <a:srgbClr val="00C2FF"/>
                </a:solidFill>
              </a:rPr>
              <a:t>SOM: </a:t>
            </a:r>
            <a:pPr indent="0" marL="0">
              <a:buNone/>
            </a:pPr>
            <a:r>
              <a:rPr lang="en-US" sz="800" dirty="0">
                <a:solidFill>
                  <a:srgbClr val="8BA6C1"/>
                </a:solidFill>
              </a:rPr>
              <a:t>Bottom-up: 63 000 проф. пользователей × $200 ARPU = $12.6M.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82880" y="482803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BA6C1"/>
                </a:solidFill>
              </a:rPr>
              <a:t>Источники: Grand View Research 2024 | IDC Worldwide External Storage Report 2023 | Statista Portable SSD Market 2024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9144000" cy="822960"/>
          </a:xfrm>
          <a:prstGeom prst="rect">
            <a:avLst/>
          </a:prstGeom>
          <a:solidFill>
            <a:srgbClr val="0A1220"/>
          </a:solidFill>
          <a:ln w="12700">
            <a:solidFill>
              <a:srgbClr val="0A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"/>
            <a:ext cx="411480" cy="82296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57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457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ПОЧЕМУ СЕЙЧАС: 5 драйверов, которые делают момент идеальным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4297680" cy="1188720"/>
          </a:xfrm>
          <a:prstGeom prst="rect">
            <a:avLst/>
          </a:prstGeom>
          <a:solidFill>
            <a:srgbClr val="1A2D45"/>
          </a:solidFill>
          <a:ln w="9525">
            <a:solidFill>
              <a:srgbClr val="00C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005840"/>
            <a:ext cx="365760" cy="1188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00584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051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2FF"/>
                </a:solidFill>
              </a:rPr>
              <a:t>Wi-Fi 6 / 6E стал массовым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130759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8F4FD"/>
                </a:solidFill>
              </a:rPr>
              <a:t>Смартфоны 2022+ и ноутбуки уже поддерживают Wi-Fi 6 (802.11ax).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E8F4FD"/>
                </a:solidFill>
              </a:rPr>
              <a:t>Скорость передачи достигает 1.2 Гбит/с — сравнимо с USB 3.1.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E8F4FD"/>
                </a:solidFill>
              </a:rPr>
              <a:t>Технический барьер устранён: «медленный Wi-Fi» больше не аргумент.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C2FF"/>
                </a:solidFill>
              </a:rPr>
              <a:t>↑ Снимает главное возражение покупателя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82880" y="2377440"/>
            <a:ext cx="4297680" cy="1188720"/>
          </a:xfrm>
          <a:prstGeom prst="rect">
            <a:avLst/>
          </a:prstGeom>
          <a:solidFill>
            <a:srgbClr val="1A2D45"/>
          </a:solidFill>
          <a:ln w="9525">
            <a:solidFill>
              <a:srgbClr val="0080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2377440"/>
            <a:ext cx="365760" cy="1188720"/>
          </a:xfrm>
          <a:prstGeom prst="rect">
            <a:avLst/>
          </a:prstGeom>
          <a:solidFill>
            <a:srgbClr val="0080CC"/>
          </a:solidFill>
          <a:ln w="12700">
            <a:solidFill>
              <a:srgbClr val="0080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237744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423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0CC"/>
                </a:solidFill>
              </a:rPr>
              <a:t>Бум creator-экономики: объём файлов растёт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267919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8F4FD"/>
                </a:solidFill>
              </a:rPr>
              <a:t>4K/6K-видео и RAW-фото стали стандартом для фрилансеров.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E8F4FD"/>
                </a:solidFill>
              </a:rPr>
              <a:t>Средний проект видеографа — 200–500 ГБ сырого материала.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E8F4FD"/>
                </a:solidFill>
              </a:rPr>
              <a:t>Облако не справляется: цена и скорость не подходят для полей.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40080" y="32461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0CC"/>
                </a:solidFill>
              </a:rPr>
              <a:t>↑ Расширяет болевой сегмент, ускоряет WTP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82880" y="3749040"/>
            <a:ext cx="4297680" cy="1188720"/>
          </a:xfrm>
          <a:prstGeom prst="rect">
            <a:avLst/>
          </a:prstGeom>
          <a:solidFill>
            <a:srgbClr val="1A2D45"/>
          </a:solidFill>
          <a:ln w="9525">
            <a:solidFill>
              <a:srgbClr val="00E5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3749040"/>
            <a:ext cx="365760" cy="118872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374904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794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E5B0"/>
                </a:solidFill>
              </a:rPr>
              <a:t>NVMe SSD подешевели в 3× за 4 года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405079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8F4FD"/>
                </a:solidFill>
              </a:rPr>
              <a:t>Себестоимость NVMe 1 ТБ упала с $150 (2020) до ~$50 (2024).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E8F4FD"/>
                </a:solidFill>
              </a:rPr>
              <a:t>Маржа и доступная цена для конечного пользователя выросли.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E8F4FD"/>
                </a:solidFill>
              </a:rPr>
              <a:t>Возможно создать продукт с хорошей маржой по цене $120–170.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40080" y="46177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E5B0"/>
                </a:solidFill>
              </a:rPr>
              <a:t>↑ Unit-экономика стала жизнеспособной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4297680" cy="1188720"/>
          </a:xfrm>
          <a:prstGeom prst="rect">
            <a:avLst/>
          </a:prstGeom>
          <a:solidFill>
            <a:srgbClr val="1A2D4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005840"/>
            <a:ext cx="365760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00584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12080" y="1051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</a:rPr>
              <a:t>Рост удалённой и гибридной работы (post-COVID)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12080" y="130759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8F4FD"/>
                </a:solidFill>
              </a:rPr>
              <a:t>37% офисных сотрудников работают 2+ дня вне офиса (McKinsey 2023).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E8F4FD"/>
                </a:solidFill>
              </a:rPr>
              <a:t>Они носят данные с собой, но зависят от инфраструктуры.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E8F4FD"/>
                </a:solidFill>
              </a:rPr>
              <a:t>Спрос на «личный мобильный сервер» стабильно растёт.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12080" y="18745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35"/>
                </a:solidFill>
              </a:rPr>
              <a:t>↑ Расширяет рынок за пределы creatives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754880" y="2377440"/>
            <a:ext cx="4297680" cy="1188720"/>
          </a:xfrm>
          <a:prstGeom prst="rect">
            <a:avLst/>
          </a:prstGeom>
          <a:solidFill>
            <a:srgbClr val="1A2D45"/>
          </a:solidFill>
          <a:ln w="9525">
            <a:solidFill>
              <a:srgbClr val="00C8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377440"/>
            <a:ext cx="365760" cy="1188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37744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</a:rPr>
              <a:t>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12080" y="2423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896"/>
                </a:solidFill>
              </a:rPr>
              <a:t>Конкуренты застряли в нише: нет идеального продукта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212080" y="267919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8F4FD"/>
                </a:solidFill>
              </a:rPr>
              <a:t>SanDisk Connect / WD My Passport Wireless ограничены MicroSD.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E8F4FD"/>
                </a:solidFill>
              </a:rPr>
              <a:t>Seagate GoFlex Wi-Fi снят с производства (2020).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E8F4FD"/>
                </a:solidFill>
              </a:rPr>
              <a:t>Samsung T7 и подобные — только USB. Окно возможностей открыто.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212080" y="32461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C896"/>
                </a:solidFill>
              </a:rPr>
              <a:t>↑ Нет сильного игрока именно в этой нише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9144000" cy="822960"/>
          </a:xfrm>
          <a:prstGeom prst="rect">
            <a:avLst/>
          </a:prstGeom>
          <a:solidFill>
            <a:srgbClr val="0A1220"/>
          </a:solidFill>
          <a:ln w="12700">
            <a:solidFill>
              <a:srgbClr val="0A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"/>
            <a:ext cx="411480" cy="8229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57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05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457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ЛОГИКА И СВЯЗНОСТЬ ДЕКА + ИСТОЧНИКИ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8778240" cy="347472"/>
          </a:xfrm>
          <a:prstGeom prst="rect">
            <a:avLst/>
          </a:prstGeom>
          <a:solidFill>
            <a:srgbClr val="1A2D45"/>
          </a:solidFill>
          <a:ln w="6350">
            <a:solidFill>
              <a:srgbClr val="008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424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2FF"/>
                </a:solidFill>
              </a:rPr>
              <a:t>Цепочка логики дека: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35"/>
                </a:solidFill>
              </a:rPr>
              <a:t>Проблема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6B35"/>
                </a:solidFill>
              </a:rPr>
              <a:t>(у кого болит)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36192" y="14173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6C1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52344" y="14173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B0"/>
                </a:solidFill>
              </a:rPr>
              <a:t>Сегмент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E5B0"/>
                </a:solidFill>
              </a:rPr>
              <a:t>(кто именно)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968496" y="14173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6C1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84648" y="14173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2FF"/>
                </a:solidFill>
              </a:rPr>
              <a:t>Рынок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C2FF"/>
                </a:solidFill>
              </a:rPr>
              <a:t>(масштаб)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0" y="14173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6C1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16952" y="14173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B0"/>
                </a:solidFill>
              </a:rPr>
              <a:t>Почему сейчас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E5B0"/>
                </a:solidFill>
              </a:rPr>
              <a:t>(драйверы)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8288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Таблица расчёта TAM / SAM / SOM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2331720"/>
          <a:ext cx="8778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474720"/>
                <a:gridCol w="1371600"/>
                <a:gridCol w="25603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Метрика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Расчёт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Итог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Источник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C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F4FD"/>
                          </a:solidFill>
                        </a:rPr>
                        <a:t>TAM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F4FD"/>
                          </a:solidFill>
                        </a:rPr>
                        <a:t>Global portable SSD market × весь рынок (top-down)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F4FD"/>
                          </a:solidFill>
                        </a:rPr>
                        <a:t>$2.1 млрд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F4FD"/>
                          </a:solidFill>
                        </a:rPr>
                        <a:t>Grand View Research 2024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F4FD"/>
                          </a:solidFill>
                        </a:rPr>
                        <a:t>SAM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F4FD"/>
                          </a:solidFill>
                        </a:rPr>
                        <a:t>TAM × 20% (доля Wi-Fi-enabled устройств)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F4FD"/>
                          </a:solidFill>
                        </a:rPr>
                        <a:t>$420 млн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F4FD"/>
                          </a:solidFill>
                        </a:rPr>
                        <a:t>IDC Storage Report 2023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F4FD"/>
                          </a:solidFill>
                        </a:rPr>
                        <a:t>SOM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F4FD"/>
                          </a:solidFill>
                        </a:rPr>
                        <a:t>63 000 проф. пользователей × $200 ARPU (bottom-up)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F4FD"/>
                          </a:solidFill>
                        </a:rPr>
                        <a:t>$12.6 млн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F4FD"/>
                          </a:solidFill>
                        </a:rPr>
                        <a:t>Собственный расчёт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F4FD"/>
                          </a:solidFill>
                        </a:rPr>
                        <a:t>Допущение 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F4FD"/>
                          </a:solidFill>
                        </a:rPr>
                        <a:t>Конверсия 3% SAM → SOM за 3 года (консервативно)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F4FD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F4FD"/>
                          </a:solidFill>
                        </a:rPr>
                        <a:t>Аналогия: SanDisk Extreme Pro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F4FD"/>
                          </a:solidFill>
                        </a:rPr>
                        <a:t>Допущение 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F4FD"/>
                          </a:solidFill>
                        </a:rPr>
                        <a:t>ARPU = $200 (средняя цена в категории $120–250)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F4FD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F4FD"/>
                          </a:solidFill>
                        </a:rPr>
                        <a:t>Amazon Best Sellers SSD 2024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5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182880" y="4389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2FF"/>
                </a:solidFill>
              </a:rPr>
              <a:t>Источники: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82880" y="4599432"/>
            <a:ext cx="8778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BA6C1"/>
                </a:solidFill>
              </a:rPr>
              <a:t>1. Grand View Research (2024). Portable SSD Market Size &amp; Share Report.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82880" y="4690872"/>
            <a:ext cx="8778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BA6C1"/>
                </a:solidFill>
              </a:rPr>
              <a:t>2. IDC (2023). Worldwide External Storage Report.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182880" y="4782312"/>
            <a:ext cx="8778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BA6C1"/>
                </a:solidFill>
              </a:rPr>
              <a:t>3. Statista (2024). Portable Solid State Drive Market.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182880" y="4873752"/>
            <a:ext cx="8778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BA6C1"/>
                </a:solidFill>
              </a:rPr>
              <a:t>4. McKinsey &amp; Company (2023). The Future of Work after COVID-19.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182880" y="4965192"/>
            <a:ext cx="8778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BA6C1"/>
                </a:solidFill>
              </a:rPr>
              <a:t>5. Reddit / XDA Developers — пользовательские отзывы на портативные накопители.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PortaSSD — Стартап-презентация</dc:title>
  <dc:subject>PptxGenJS Presentation</dc:subject>
  <dc:creator>PptxGenJS</dc:creator>
  <cp:lastModifiedBy>PptxGenJS</cp:lastModifiedBy>
  <cp:revision>1</cp:revision>
  <dcterms:created xsi:type="dcterms:W3CDTF">2026-04-02T15:38:35Z</dcterms:created>
  <dcterms:modified xsi:type="dcterms:W3CDTF">2026-04-02T15:38:36Z</dcterms:modified>
</cp:coreProperties>
</file>